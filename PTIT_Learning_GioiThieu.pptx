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PTIT-LEARNING | LỚP HỌC 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143000" cy="73152"/>
          </a:xfrm>
          <a:prstGeom prst="rect">
            <a:avLst/>
          </a:prstGeom>
          <a:solidFill>
            <a:srgbClr val="FF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12D"/>
                </a:solidFill>
                <a:latin typeface="Arial"/>
              </a:defRPr>
            </a:pPr>
            <a:r>
              <a:t>HỌC MỌI NƠI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Tham gia lớp học từ máy tính hoặc điện thoại.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5087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12D"/>
                </a:solidFill>
                <a:latin typeface="Arial"/>
              </a:defRPr>
            </a:pPr>
            <a:r>
              <a:t>TƯƠNG TÁC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57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Video, micro, chat và giơ tay trong một không gian học tập.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12D"/>
                </a:solidFill>
                <a:latin typeface="Arial"/>
              </a:defRPr>
            </a:pPr>
            <a:r>
              <a:t>THEO DÕI TIẾN ĐỘ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Ghi nhận chuyên cần và xem lại buổi học khi được cho phép.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508760"/>
            <a:ext cx="22860" cy="3108960"/>
          </a:xfrm>
          <a:prstGeom prst="rect">
            <a:avLst/>
          </a:prstGeom>
          <a:solidFill>
            <a:srgbClr val="29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508760"/>
            <a:ext cx="22860" cy="3108960"/>
          </a:xfrm>
          <a:prstGeom prst="rect">
            <a:avLst/>
          </a:prstGeom>
          <a:solidFill>
            <a:srgbClr val="29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Một lớp học số rõ ràng, kết nối và có thể theo dõi.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2"/>
                </a:solidFill>
                <a:latin typeface="Arial"/>
              </a:defRPr>
            </a:pPr>
            <a:r>
              <a:t>PTIT-Learning • Concept slide • Mẫu học tập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LỘ TRÌNH HỌC TẬP TRONG LỚP 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12D"/>
                </a:solidFill>
                <a:latin typeface="Arial"/>
              </a:defRPr>
            </a:pPr>
            <a:r>
              <a:t>Từ đăng nhập đến hoàn thành buổi học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2011680" cy="914400"/>
          </a:xfrm>
          <a:prstGeom prst="roundRect">
            <a:avLst/>
          </a:prstGeom>
          <a:solidFill>
            <a:srgbClr val="294C73"/>
          </a:solidFill>
          <a:ln w="25400"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1. Đăng nhập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057400"/>
            <a:ext cx="2011680" cy="914400"/>
          </a:xfrm>
          <a:prstGeom prst="roundRect">
            <a:avLst/>
          </a:prstGeom>
          <a:solidFill>
            <a:srgbClr val="294C73"/>
          </a:solidFill>
          <a:ln w="25400"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2. Chọn lịch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2057400"/>
            <a:ext cx="2011680" cy="914400"/>
          </a:xfrm>
          <a:prstGeom prst="roundRect">
            <a:avLst/>
          </a:prstGeom>
          <a:solidFill>
            <a:srgbClr val="294C73"/>
          </a:solidFill>
          <a:ln w="25400"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3. Vào lớp 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057400"/>
            <a:ext cx="2011680" cy="914400"/>
          </a:xfrm>
          <a:prstGeom prst="roundRect">
            <a:avLst/>
          </a:prstGeom>
          <a:solidFill>
            <a:srgbClr val="294C73"/>
          </a:solidFill>
          <a:ln w="25400"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4. Tương tác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2057400"/>
            <a:ext cx="1600200" cy="914400"/>
          </a:xfrm>
          <a:prstGeom prst="roundRect">
            <a:avLst/>
          </a:prstGeom>
          <a:solidFill>
            <a:srgbClr val="294C73"/>
          </a:solidFill>
          <a:ln w="25400"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5. Kết thúc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331720"/>
            <a:ext cx="365759" cy="347472"/>
          </a:xfrm>
          <a:prstGeom prst="rightArrow">
            <a:avLst/>
          </a:prstGeom>
          <a:solidFill>
            <a:srgbClr val="FF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983480" y="2331720"/>
            <a:ext cx="365759" cy="347472"/>
          </a:xfrm>
          <a:prstGeom prst="rightArrow">
            <a:avLst/>
          </a:prstGeom>
          <a:solidFill>
            <a:srgbClr val="FF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360920" y="2331720"/>
            <a:ext cx="365759" cy="347472"/>
          </a:xfrm>
          <a:prstGeom prst="rightArrow">
            <a:avLst/>
          </a:prstGeom>
          <a:solidFill>
            <a:srgbClr val="FF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738360" y="2331720"/>
            <a:ext cx="274319" cy="347472"/>
          </a:xfrm>
          <a:prstGeom prst="rightArrow">
            <a:avLst/>
          </a:prstGeom>
          <a:solidFill>
            <a:srgbClr val="FF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Nếu kết nối lỗi: kiểm tra mạng → thử tham gia lại → liên hệ hỗ trợ.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8F2"/>
                </a:solidFill>
                <a:latin typeface="Arial"/>
              </a:defRPr>
            </a:pPr>
            <a:r>
              <a:t>Sau buổi học: hệ thống lưu thời gian tham gia và mở bản ghi nếu được cấp quyền.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2"/>
                </a:solidFill>
                <a:latin typeface="Arial"/>
              </a:defRPr>
            </a:pPr>
            <a:r>
              <a:t>Màu sắc: nền Navy • chữ trắng • điểm nhấn cam | Cỡ chữ chính ≥ 30 pt ở tiêu đề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